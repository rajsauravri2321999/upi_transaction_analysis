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  <p:sldId id="264" r:id="rId4"/>
    <p:sldId id="267" r:id="rId5"/>
    <p:sldId id="268" r:id="rId6"/>
    <p:sldId id="269" r:id="rId7"/>
    <p:sldId id="273" r:id="rId8"/>
    <p:sldId id="257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B899-FF6F-C26A-6F4B-170CA52AF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279841-064C-B83B-2477-EF0616E2A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5C576-B9B3-2198-83A6-C133A523F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71DE-95F4-54CE-9D54-126628D0A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5920F-84DE-152B-2CF5-E500D2A5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636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80BE-481D-536A-3FCE-F461CE05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709B5-294D-01BE-208D-7D8BE1066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933E5-377A-3990-7272-80CC14DC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CC01E-3028-4957-BF3C-9F0C5B3C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C12E1-3272-FAD7-6BAC-BE954D72C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28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06F1-B211-C9C6-CA99-59A1B87CA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A44F4-654F-6E0A-30E2-CEF72D12C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EBA4-4029-E51D-ECD0-CABF99FB7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3CFE3-16BA-7BA7-DFA2-04AC3DAB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0DB50-11F2-D850-4C90-BFFB089D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06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9952-DF98-DB7D-B9D8-6B234BF5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35799-DB2A-A5BA-CBDC-1DEAAB5A3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9E28E-A3B7-1042-7FE8-A1F0C6D8B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7C8C9-7CA3-7708-F160-972E7685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BCA98-30C1-F1DE-574A-EBAE83810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30995-C84B-57A6-6662-E2808759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35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B5792-0C9E-AE71-431D-5B1EBBC1E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E2A27-6462-6955-8B19-8FAF5A878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6A96C-5A29-E848-A019-9F452C5A3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3D02E3-74EE-10E3-FEF6-EDB4E47B2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3C4D71-3A2C-F311-D6C0-3E798B9AE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94737E-75D2-F6D3-70F5-618F999F7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C26A47-DAB5-5236-B74C-A606E76A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7CD4E-8713-4B86-7C9F-B40E4EC8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10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04FC5-3A13-FB56-4D84-A6BCFBF2C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4BA8A-A230-992C-1F5E-931E71F8C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E545E-B2A3-F795-36A6-004770633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4E84D-ECFD-4EC8-1020-85F8858E5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838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4E664E-0F22-F665-9FBD-A3877D9F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DF7E3-340B-B81E-2B09-1F0AC1DD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5ECD4-F88E-91CF-40FA-B2F4E5B3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807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14BF-A669-80A1-5447-2B4D54D37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59B6D-D754-1B15-3F01-9830B5A20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E0E1C-A1B1-5C4A-285E-6DDE2E1BD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F62DC-8448-C6F6-46DB-3EB71BAC2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8ACE6-EE93-5B7A-6594-36DD0AE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36F31-B9FE-2DB1-9CF0-71626A93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882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F88D-7449-A588-44D0-1F70DC7F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841672-B1B3-4A5A-FAB2-B224FB6B8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7F945-5ADC-EACB-3550-6B6ABCED5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57D4B-C87E-AE44-6191-EDDD9549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A1CB0-A7AB-F560-5A7A-0E44DFBA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E5D58-0F7A-1C6E-5A94-F0BFFA98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9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DD23-AA2C-9389-2FED-86B7C33A0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258EC-20DB-B014-D4AF-304D7F6B2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8513F-EF21-34B9-9CA3-AACFD5BC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AF5C5-61BD-658C-6E7D-1B5D4560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18DE3-0099-E02F-1E12-F040C1CD2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075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3DA11-A74C-EDB8-38C6-D65AC7695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705CFC-00F4-A798-4F68-B6364840E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3CDD0-E1EE-E7E3-5028-71D0C567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0F6B3-2860-DE03-EF60-892244D0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8B9FA-264B-96B4-B1DE-8CCE4D615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27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BC2BC-F561-FFAF-C990-E202A915E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35FE5-6E35-A5E3-DA00-6717B589D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69421-CA99-1A0C-4AFF-24FAE3968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8AE4A-BC9C-43A6-818F-E9A87BFEC4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F719A-796F-6857-2D18-9314585D1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EC83C-4F54-B2A0-3F39-CF1558DBB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408C5-A990-4857-9BA8-086BB34D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9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8EB1C1-D94A-83CD-FDBD-9FC8656CECF2}"/>
              </a:ext>
            </a:extLst>
          </p:cNvPr>
          <p:cNvSpPr txBox="1"/>
          <p:nvPr/>
        </p:nvSpPr>
        <p:spPr>
          <a:xfrm>
            <a:off x="1093509" y="1847405"/>
            <a:ext cx="95022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UPI Payments Analytics &amp; Risk Insights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Presented By</a:t>
            </a:r>
          </a:p>
          <a:p>
            <a:endParaRPr lang="en-IN" dirty="0"/>
          </a:p>
          <a:p>
            <a:r>
              <a:rPr lang="en-IN" dirty="0"/>
              <a:t>Saurav Raj</a:t>
            </a:r>
          </a:p>
          <a:p>
            <a:endParaRPr lang="en-IN" dirty="0"/>
          </a:p>
          <a:p>
            <a:r>
              <a:rPr lang="en-IN" dirty="0"/>
              <a:t>Data Analytics Course #801</a:t>
            </a:r>
          </a:p>
          <a:p>
            <a:r>
              <a:rPr lang="en-IN" dirty="0"/>
              <a:t>By Career247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934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F26ED1-82EC-4054-03D3-CE4C1C046FD2}"/>
              </a:ext>
            </a:extLst>
          </p:cNvPr>
          <p:cNvSpPr txBox="1"/>
          <p:nvPr/>
        </p:nvSpPr>
        <p:spPr>
          <a:xfrm>
            <a:off x="735291" y="546755"/>
            <a:ext cx="1050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Business Context &amp; Core 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CBA38-8FB8-4BFE-8498-6615D8F132C6}"/>
              </a:ext>
            </a:extLst>
          </p:cNvPr>
          <p:cNvSpPr txBox="1"/>
          <p:nvPr/>
        </p:nvSpPr>
        <p:spPr>
          <a:xfrm>
            <a:off x="857839" y="1074656"/>
            <a:ext cx="102375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UPI operate at massive scale and face multiple operational and strategic challenges.</a:t>
            </a:r>
          </a:p>
          <a:p>
            <a:endParaRPr lang="en-IN" dirty="0"/>
          </a:p>
          <a:p>
            <a:r>
              <a:rPr lang="en-IN" dirty="0"/>
              <a:t>Core Challenges:</a:t>
            </a:r>
          </a:p>
          <a:p>
            <a:pPr marL="342900" indent="-342900">
              <a:buAutoNum type="arabicPeriod"/>
            </a:pPr>
            <a:r>
              <a:rPr lang="en-IN" dirty="0"/>
              <a:t>Fraud Risk </a:t>
            </a:r>
            <a:br>
              <a:rPr lang="en-IN" dirty="0"/>
            </a:br>
            <a:r>
              <a:rPr lang="en-IN" dirty="0"/>
              <a:t>     Account takeovers, SIM Swap fraud, Phishing, device spoofing</a:t>
            </a:r>
          </a:p>
          <a:p>
            <a:pPr marL="342900" indent="-342900">
              <a:buAutoNum type="arabicPeriod"/>
            </a:pPr>
            <a:r>
              <a:rPr lang="en-IN" dirty="0"/>
              <a:t>Transaction failures</a:t>
            </a:r>
          </a:p>
          <a:p>
            <a:r>
              <a:rPr lang="en-IN" dirty="0"/>
              <a:t>            Bank downtime, Network latency, API errors</a:t>
            </a:r>
          </a:p>
          <a:p>
            <a:pPr marL="342900" indent="-342900">
              <a:buAutoNum type="arabicPeriod" startAt="3"/>
            </a:pPr>
            <a:r>
              <a:rPr lang="en-IN" dirty="0"/>
              <a:t>Device &amp; Security risk</a:t>
            </a:r>
          </a:p>
          <a:p>
            <a:r>
              <a:rPr lang="en-IN" dirty="0"/>
              <a:t>             Rooted devices, suspicious patterns</a:t>
            </a:r>
          </a:p>
          <a:p>
            <a:pPr marL="342900" indent="-342900">
              <a:buAutoNum type="arabicPeriod" startAt="4"/>
            </a:pPr>
            <a:r>
              <a:rPr lang="en-IN" dirty="0"/>
              <a:t>Customer Transaction Support</a:t>
            </a:r>
          </a:p>
          <a:p>
            <a:r>
              <a:rPr lang="en-IN" dirty="0"/>
              <a:t>             Reducing Resolution time, Showing timely alerts for suspicious transactions</a:t>
            </a:r>
          </a:p>
        </p:txBody>
      </p:sp>
    </p:spTree>
    <p:extLst>
      <p:ext uri="{BB962C8B-B14F-4D97-AF65-F5344CB8AC3E}">
        <p14:creationId xmlns:p14="http://schemas.microsoft.com/office/powerpoint/2010/main" val="810646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79C87C-2DD1-E635-BC6F-05F04B0AFE15}"/>
              </a:ext>
            </a:extLst>
          </p:cNvPr>
          <p:cNvSpPr txBox="1"/>
          <p:nvPr/>
        </p:nvSpPr>
        <p:spPr>
          <a:xfrm>
            <a:off x="952107" y="725864"/>
            <a:ext cx="949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19366-E6F9-1F11-44D4-01E87A3C3115}"/>
              </a:ext>
            </a:extLst>
          </p:cNvPr>
          <p:cNvSpPr txBox="1"/>
          <p:nvPr/>
        </p:nvSpPr>
        <p:spPr>
          <a:xfrm>
            <a:off x="1046375" y="1451728"/>
            <a:ext cx="98887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 analyse operational, transactional and risk data from UPI Systems.</a:t>
            </a:r>
            <a:br>
              <a:rPr lang="en-IN" dirty="0"/>
            </a:br>
            <a:r>
              <a:rPr lang="en-IN" dirty="0"/>
              <a:t>Identifying patterns of customer and merchant behaviour, payment trends, and fraud risk.</a:t>
            </a:r>
          </a:p>
          <a:p>
            <a:r>
              <a:rPr lang="en-IN" dirty="0"/>
              <a:t>Develop KPIs and visuals for executive and operational decision making.</a:t>
            </a:r>
          </a:p>
          <a:p>
            <a:r>
              <a:rPr lang="en-IN" dirty="0"/>
              <a:t>Deriving strategic data-driven insights and actionable business recommendations to improve platform performance and user trust.</a:t>
            </a:r>
          </a:p>
        </p:txBody>
      </p:sp>
    </p:spTree>
    <p:extLst>
      <p:ext uri="{BB962C8B-B14F-4D97-AF65-F5344CB8AC3E}">
        <p14:creationId xmlns:p14="http://schemas.microsoft.com/office/powerpoint/2010/main" val="352965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787AA5-9907-0CA2-0D5F-DCC562D53384}"/>
              </a:ext>
            </a:extLst>
          </p:cNvPr>
          <p:cNvSpPr txBox="1"/>
          <p:nvPr/>
        </p:nvSpPr>
        <p:spPr>
          <a:xfrm>
            <a:off x="961534" y="631596"/>
            <a:ext cx="8088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Core Analytical Goals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6916A-B360-728D-90F2-383CF3A9CEA9}"/>
              </a:ext>
            </a:extLst>
          </p:cNvPr>
          <p:cNvSpPr txBox="1"/>
          <p:nvPr/>
        </p:nvSpPr>
        <p:spPr>
          <a:xfrm>
            <a:off x="1102936" y="1234911"/>
            <a:ext cx="92005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goal is to use data analytics to improve platform reliability, security and growth.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Reduce transaction failure rates</a:t>
            </a:r>
          </a:p>
          <a:p>
            <a:pPr marL="342900" indent="-342900">
              <a:buAutoNum type="arabicPeriod"/>
            </a:pPr>
            <a:r>
              <a:rPr lang="en-IN" dirty="0"/>
              <a:t>Detect and prevent fraud in real time and reduce resolution time.</a:t>
            </a:r>
          </a:p>
          <a:p>
            <a:pPr marL="342900" indent="-342900">
              <a:buAutoNum type="arabicPeriod"/>
            </a:pPr>
            <a:r>
              <a:rPr lang="en-IN" dirty="0"/>
              <a:t>Improve customer retention and engagement.</a:t>
            </a:r>
          </a:p>
          <a:p>
            <a:pPr marL="342900" indent="-342900">
              <a:buAutoNum type="arabicPeriod"/>
            </a:pPr>
            <a:r>
              <a:rPr lang="en-IN" dirty="0"/>
              <a:t>Increase merchant activity and improve transaction frequency.</a:t>
            </a:r>
          </a:p>
          <a:p>
            <a:pPr marL="342900" indent="-342900">
              <a:buAutoNum type="arabicPeriod"/>
            </a:pPr>
            <a:r>
              <a:rPr lang="en-IN" dirty="0"/>
              <a:t>Identify high risk devices and behaviours.</a:t>
            </a:r>
          </a:p>
          <a:p>
            <a:pPr marL="342900" indent="-342900">
              <a:buAutoNum type="arabicPeriod"/>
            </a:pPr>
            <a:r>
              <a:rPr lang="en-IN" dirty="0"/>
              <a:t>Enable data-driven strategic insights for better decision making for platform operations.</a:t>
            </a:r>
          </a:p>
        </p:txBody>
      </p:sp>
    </p:spTree>
    <p:extLst>
      <p:ext uri="{BB962C8B-B14F-4D97-AF65-F5344CB8AC3E}">
        <p14:creationId xmlns:p14="http://schemas.microsoft.com/office/powerpoint/2010/main" val="3103554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3CEC5-28D9-4729-5F06-186F80F69675}"/>
              </a:ext>
            </a:extLst>
          </p:cNvPr>
          <p:cNvSpPr txBox="1"/>
          <p:nvPr/>
        </p:nvSpPr>
        <p:spPr>
          <a:xfrm>
            <a:off x="810705" y="405353"/>
            <a:ext cx="702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Analytical approach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F372C6-2721-46E5-B1C0-6E916803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326" y="774685"/>
            <a:ext cx="2034716" cy="2019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AE0396-ADEC-ABC3-E2F4-9F4EF5D1F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264" y="774685"/>
            <a:ext cx="2072820" cy="19813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E1DF03-D5D4-B96C-F289-9AC1889F4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702" y="786115"/>
            <a:ext cx="2072820" cy="19966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6FFDCD-A41F-AB27-4692-2D6A5C165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9970" y="3163492"/>
            <a:ext cx="2080440" cy="24462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6A2D2F-0C77-6931-25A4-8752431D3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066" y="3163492"/>
            <a:ext cx="2072820" cy="19966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769A6B6-7013-9FF9-29D2-2B8706B79B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4882" y="3163492"/>
            <a:ext cx="2072820" cy="21871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AF595E-B09C-A3B1-6404-E6B08EFB48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6186" y="3163492"/>
            <a:ext cx="2072820" cy="264436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59C43F7-E996-C195-2CCE-3868CFFA2F4F}"/>
              </a:ext>
            </a:extLst>
          </p:cNvPr>
          <p:cNvSpPr txBox="1"/>
          <p:nvPr/>
        </p:nvSpPr>
        <p:spPr>
          <a:xfrm>
            <a:off x="810705" y="1065229"/>
            <a:ext cx="2950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DataSources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55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6034A0-649B-EA54-CDBD-ABE41B4EA764}"/>
              </a:ext>
            </a:extLst>
          </p:cNvPr>
          <p:cNvSpPr txBox="1"/>
          <p:nvPr/>
        </p:nvSpPr>
        <p:spPr>
          <a:xfrm>
            <a:off x="716437" y="414779"/>
            <a:ext cx="4553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Work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1367B6-7D41-39C9-2E7C-A1E7DB1B20BB}"/>
              </a:ext>
            </a:extLst>
          </p:cNvPr>
          <p:cNvSpPr txBox="1"/>
          <p:nvPr/>
        </p:nvSpPr>
        <p:spPr>
          <a:xfrm>
            <a:off x="867266" y="1065229"/>
            <a:ext cx="99735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Clean &amp; validate data in excel</a:t>
            </a:r>
          </a:p>
          <a:p>
            <a:pPr marL="342900" indent="-342900">
              <a:buAutoNum type="arabicPeriod"/>
            </a:pPr>
            <a:r>
              <a:rPr lang="en-IN" dirty="0"/>
              <a:t>Design Database and create tables in SQL.</a:t>
            </a:r>
          </a:p>
          <a:p>
            <a:pPr marL="342900" indent="-342900">
              <a:buAutoNum type="arabicPeriod"/>
            </a:pPr>
            <a:r>
              <a:rPr lang="en-IN" dirty="0"/>
              <a:t>Load data and drew ER diagram.</a:t>
            </a:r>
          </a:p>
          <a:p>
            <a:pPr marL="342900" indent="-342900">
              <a:buAutoNum type="arabicPeriod"/>
            </a:pPr>
            <a:r>
              <a:rPr lang="en-IN" dirty="0"/>
              <a:t>Established data pipeline from SQL to Python for analysis.</a:t>
            </a:r>
          </a:p>
          <a:p>
            <a:pPr marL="342900" indent="-342900">
              <a:buAutoNum type="arabicPeriod"/>
            </a:pPr>
            <a:r>
              <a:rPr lang="en-IN" dirty="0"/>
              <a:t>Data transformations and EDA in python.</a:t>
            </a:r>
          </a:p>
          <a:p>
            <a:pPr marL="342900" indent="-342900">
              <a:buAutoNum type="arabicPeriod"/>
            </a:pPr>
            <a:r>
              <a:rPr lang="en-IN" dirty="0"/>
              <a:t>Statistical Analysis in Python</a:t>
            </a:r>
          </a:p>
          <a:p>
            <a:pPr marL="342900" indent="-342900">
              <a:buAutoNum type="arabicPeriod"/>
            </a:pPr>
            <a:r>
              <a:rPr lang="en-IN" dirty="0"/>
              <a:t>Executive and Operations/Fraud Analysis Dashboard in Power BI.</a:t>
            </a:r>
          </a:p>
          <a:p>
            <a:pPr marL="342900" indent="-342900">
              <a:buAutoNum type="arabicPeriod"/>
            </a:pPr>
            <a:r>
              <a:rPr lang="en-IN" dirty="0"/>
              <a:t>Derive Strategic Data-driven insights and recommendations.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83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BDB568-1E9A-4E4A-3E0B-3D95ED8330A5}"/>
              </a:ext>
            </a:extLst>
          </p:cNvPr>
          <p:cNvSpPr txBox="1"/>
          <p:nvPr/>
        </p:nvSpPr>
        <p:spPr>
          <a:xfrm>
            <a:off x="820132" y="622169"/>
            <a:ext cx="6070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Core KPIs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2B838D-9E15-0DFF-22ED-92016EAD8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750" y="1118355"/>
            <a:ext cx="1828958" cy="4922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F36303-38C3-9515-420F-D5C779CE9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698" y="1266301"/>
            <a:ext cx="7064352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173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20753C-6155-92D0-DA16-4C0F48AA496D}"/>
              </a:ext>
            </a:extLst>
          </p:cNvPr>
          <p:cNvSpPr/>
          <p:nvPr/>
        </p:nvSpPr>
        <p:spPr>
          <a:xfrm>
            <a:off x="593889" y="254524"/>
            <a:ext cx="11170763" cy="76357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2B589-60BB-EB89-6E62-F4F545120685}"/>
              </a:ext>
            </a:extLst>
          </p:cNvPr>
          <p:cNvSpPr txBox="1"/>
          <p:nvPr/>
        </p:nvSpPr>
        <p:spPr>
          <a:xfrm>
            <a:off x="857839" y="433633"/>
            <a:ext cx="440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Insight #1 : Growth in UPI transactions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C0BD62-338D-B849-8B48-B2831B5EBE4B}"/>
              </a:ext>
            </a:extLst>
          </p:cNvPr>
          <p:cNvSpPr/>
          <p:nvPr/>
        </p:nvSpPr>
        <p:spPr>
          <a:xfrm>
            <a:off x="669303" y="1206631"/>
            <a:ext cx="7569724" cy="37801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BB51A3-28E4-2E25-7CB4-2A8862262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407" y="3745930"/>
            <a:ext cx="5311026" cy="24816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D6AA6F-689F-0186-E518-D526D0DEC753}"/>
              </a:ext>
            </a:extLst>
          </p:cNvPr>
          <p:cNvSpPr txBox="1"/>
          <p:nvPr/>
        </p:nvSpPr>
        <p:spPr>
          <a:xfrm>
            <a:off x="857839" y="1451728"/>
            <a:ext cx="70795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Volume of transactions grew from ~0 to 60k+ (2025).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Sharp spike after 2023 especially since 2024.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Growth is Strong but fraud exposure.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Recommendation</a:t>
            </a:r>
            <a:r>
              <a:rPr lang="en-IN" dirty="0"/>
              <a:t>: A Strong fraud detection will impact the Transactions in positive way.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Estimated Impact</a:t>
            </a:r>
            <a:r>
              <a:rPr lang="en-IN" dirty="0"/>
              <a:t>: </a:t>
            </a:r>
          </a:p>
          <a:p>
            <a:r>
              <a:rPr lang="en-IN" dirty="0"/>
              <a:t>     As fraud rate is </a:t>
            </a:r>
            <a:r>
              <a:rPr lang="en-IN" b="1" dirty="0"/>
              <a:t>~ 5.87 , </a:t>
            </a:r>
            <a:r>
              <a:rPr lang="en-IN" dirty="0"/>
              <a:t>failure transactions = 5.87 *100k = 5870</a:t>
            </a:r>
          </a:p>
          <a:p>
            <a:r>
              <a:rPr lang="en-IN" dirty="0"/>
              <a:t>     Even ~1% improvement will lead to 1000 more successful transactions.</a:t>
            </a:r>
          </a:p>
          <a:p>
            <a:r>
              <a:rPr lang="en-IN" dirty="0"/>
              <a:t>     And ~ Rs. 42 * 1000 = Rs. 42000 + Recovery potential. 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7F47C4-9799-1AC3-62F5-6C4B81336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846" y="1112883"/>
            <a:ext cx="1806097" cy="248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09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9E60B-ECF8-C545-C937-3A896A82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CCEFD1-4A25-8C63-6309-F42674C4D834}"/>
              </a:ext>
            </a:extLst>
          </p:cNvPr>
          <p:cNvSpPr/>
          <p:nvPr/>
        </p:nvSpPr>
        <p:spPr>
          <a:xfrm>
            <a:off x="593889" y="254524"/>
            <a:ext cx="11170763" cy="76357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97999-ED7F-0FA1-D612-6D128723336C}"/>
              </a:ext>
            </a:extLst>
          </p:cNvPr>
          <p:cNvSpPr txBox="1"/>
          <p:nvPr/>
        </p:nvSpPr>
        <p:spPr>
          <a:xfrm>
            <a:off x="857838" y="433633"/>
            <a:ext cx="6504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Insight #2 : Failures cannot be ignored despite high success rate.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24761A-4B51-34D9-3B2A-8B4BE85864B7}"/>
              </a:ext>
            </a:extLst>
          </p:cNvPr>
          <p:cNvSpPr/>
          <p:nvPr/>
        </p:nvSpPr>
        <p:spPr>
          <a:xfrm>
            <a:off x="669303" y="1206631"/>
            <a:ext cx="7569724" cy="37801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F78450-11BB-79EF-4D93-10B6620E9F92}"/>
              </a:ext>
            </a:extLst>
          </p:cNvPr>
          <p:cNvSpPr txBox="1"/>
          <p:nvPr/>
        </p:nvSpPr>
        <p:spPr>
          <a:xfrm>
            <a:off x="857839" y="1451728"/>
            <a:ext cx="70795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We observed that </a:t>
            </a:r>
            <a:r>
              <a:rPr lang="en-IN" b="1" dirty="0"/>
              <a:t>failure rate is ~5.87% </a:t>
            </a:r>
            <a:r>
              <a:rPr lang="en-IN" dirty="0"/>
              <a:t> and high </a:t>
            </a:r>
            <a:r>
              <a:rPr lang="en-IN" b="1" dirty="0"/>
              <a:t>success rate ~92%</a:t>
            </a:r>
            <a:r>
              <a:rPr lang="en-IN" dirty="0"/>
              <a:t> still we cannot ignore the failure of transactions.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We also find that the </a:t>
            </a:r>
            <a:r>
              <a:rPr lang="en-IN" b="1" dirty="0"/>
              <a:t>major reasons of failure of transactions are incorrect pin and network error</a:t>
            </a:r>
            <a:r>
              <a:rPr lang="en-IN" dirty="0"/>
              <a:t>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Recommendation</a:t>
            </a:r>
            <a:r>
              <a:rPr lang="en-IN" dirty="0"/>
              <a:t>: By improving UX of UPI app and giving hints to retry PIN can reduce the incorrect pin failure reason and also by optimizing network will alleviate the network error issues.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Estimated Impact</a:t>
            </a:r>
            <a:r>
              <a:rPr lang="en-IN" dirty="0"/>
              <a:t>: Even ~2% of improvement will lead to 2000 recovered transactions and hence it will impact revenue by ~ Rs. 80-100K.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140D49-E5CC-88AB-9DE0-3DC88B6DE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6164" y="1153437"/>
            <a:ext cx="1851820" cy="1599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D3E625-81FF-F36B-31F3-2DF528552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707" y="4138905"/>
            <a:ext cx="4762913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75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B97BA-7ECC-ADA2-E105-3B1B715D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A4BCE9-6017-8ABD-B526-3CCCBB6174AE}"/>
              </a:ext>
            </a:extLst>
          </p:cNvPr>
          <p:cNvSpPr/>
          <p:nvPr/>
        </p:nvSpPr>
        <p:spPr>
          <a:xfrm>
            <a:off x="593889" y="254524"/>
            <a:ext cx="11170763" cy="76357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070D5-3691-7F6A-87AF-937FB4DD10E5}"/>
              </a:ext>
            </a:extLst>
          </p:cNvPr>
          <p:cNvSpPr txBox="1"/>
          <p:nvPr/>
        </p:nvSpPr>
        <p:spPr>
          <a:xfrm>
            <a:off x="857838" y="433633"/>
            <a:ext cx="7852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Insight #3 : Fraud risk is pattern driven and it can be proactively mitigated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8EABCB-6A0C-C0C9-7474-8C1E1397DA16}"/>
              </a:ext>
            </a:extLst>
          </p:cNvPr>
          <p:cNvSpPr/>
          <p:nvPr/>
        </p:nvSpPr>
        <p:spPr>
          <a:xfrm>
            <a:off x="669303" y="1206631"/>
            <a:ext cx="7569724" cy="37801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0E796-CE20-EF60-01BE-59F6555D6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899" y="4542064"/>
            <a:ext cx="5311600" cy="1882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3D8EF2-A360-6798-598C-9CFE79B74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268" y="1723473"/>
            <a:ext cx="1638442" cy="7468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09E380-30C7-526A-C79B-13322055B988}"/>
              </a:ext>
            </a:extLst>
          </p:cNvPr>
          <p:cNvSpPr txBox="1"/>
          <p:nvPr/>
        </p:nvSpPr>
        <p:spPr>
          <a:xfrm>
            <a:off x="857838" y="1366887"/>
            <a:ext cx="72209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Fraudulent activity is not random its pattern driven concentrated around </a:t>
            </a:r>
            <a:r>
              <a:rPr lang="en-IN" dirty="0" err="1"/>
              <a:t>unusual_time</a:t>
            </a:r>
            <a:r>
              <a:rPr lang="en-IN" dirty="0"/>
              <a:t>, </a:t>
            </a:r>
            <a:r>
              <a:rPr lang="en-IN" dirty="0" err="1"/>
              <a:t>unusual_amt</a:t>
            </a:r>
            <a:r>
              <a:rPr lang="en-IN" dirty="0"/>
              <a:t>, </a:t>
            </a:r>
            <a:r>
              <a:rPr lang="en-IN" dirty="0" err="1"/>
              <a:t>frequent_failure</a:t>
            </a:r>
            <a:r>
              <a:rPr lang="en-IN" dirty="0"/>
              <a:t> and </a:t>
            </a:r>
            <a:r>
              <a:rPr lang="en-IN" dirty="0" err="1"/>
              <a:t>suspicious_login</a:t>
            </a:r>
            <a:r>
              <a:rPr lang="en-IN" dirty="0"/>
              <a:t> with 2000 flagged fraud transactions.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Significant portion of users fall under low to moderate risk.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And it can be proactively mitigated rather than react after occurrence.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Recommendation</a:t>
            </a:r>
            <a:r>
              <a:rPr lang="en-IN" dirty="0"/>
              <a:t>: Introduce real time transaction blocking for high risk patterns,  apply stricter authentication for suspicious activities.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Estimated impact</a:t>
            </a:r>
            <a:r>
              <a:rPr lang="en-IN" dirty="0"/>
              <a:t>: If 20% of fraudulent transactions prevented (~400 transactions) , it can save directly ~ Rs. 16000.</a:t>
            </a:r>
          </a:p>
          <a:p>
            <a:r>
              <a:rPr lang="en-IN" dirty="0"/>
              <a:t>      Additional benefit includes reduce financial loss, </a:t>
            </a:r>
          </a:p>
          <a:p>
            <a:r>
              <a:rPr lang="en-IN" dirty="0"/>
              <a:t>      improved compliance.</a:t>
            </a:r>
          </a:p>
        </p:txBody>
      </p:sp>
    </p:spTree>
    <p:extLst>
      <p:ext uri="{BB962C8B-B14F-4D97-AF65-F5344CB8AC3E}">
        <p14:creationId xmlns:p14="http://schemas.microsoft.com/office/powerpoint/2010/main" val="106515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2ED9B-EA1F-7599-EBB9-623FF5C8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A00311-2922-5C65-F90E-DD8E0541ADCE}"/>
              </a:ext>
            </a:extLst>
          </p:cNvPr>
          <p:cNvSpPr/>
          <p:nvPr/>
        </p:nvSpPr>
        <p:spPr>
          <a:xfrm>
            <a:off x="593889" y="254524"/>
            <a:ext cx="11170763" cy="76357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A5615E-6DBF-430C-A35F-F88A8EA47026}"/>
              </a:ext>
            </a:extLst>
          </p:cNvPr>
          <p:cNvSpPr txBox="1"/>
          <p:nvPr/>
        </p:nvSpPr>
        <p:spPr>
          <a:xfrm>
            <a:off x="857838" y="433633"/>
            <a:ext cx="7852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Insight #4 : Device based user behaviour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282442-8B75-DB20-D878-8E107CBDE5DB}"/>
              </a:ext>
            </a:extLst>
          </p:cNvPr>
          <p:cNvSpPr/>
          <p:nvPr/>
        </p:nvSpPr>
        <p:spPr>
          <a:xfrm>
            <a:off x="669303" y="1206631"/>
            <a:ext cx="7569724" cy="37801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FD1055-6118-413E-B7CE-2959DF124293}"/>
              </a:ext>
            </a:extLst>
          </p:cNvPr>
          <p:cNvSpPr txBox="1"/>
          <p:nvPr/>
        </p:nvSpPr>
        <p:spPr>
          <a:xfrm>
            <a:off x="857838" y="1366887"/>
            <a:ext cx="72209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We observed that </a:t>
            </a:r>
            <a:r>
              <a:rPr lang="en-IN" dirty="0" err="1"/>
              <a:t>Feature_phone</a:t>
            </a:r>
            <a:r>
              <a:rPr lang="en-IN" dirty="0"/>
              <a:t>, android, IOS is widely used for UPI transactions, but </a:t>
            </a:r>
            <a:r>
              <a:rPr lang="en-IN" dirty="0" err="1"/>
              <a:t>Feature_phone</a:t>
            </a:r>
            <a:r>
              <a:rPr lang="en-IN" dirty="0"/>
              <a:t> is comparatively top in device, it suggests that UPI still heavily used in low-end device segment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Recommendation</a:t>
            </a:r>
            <a:r>
              <a:rPr lang="en-IN" dirty="0"/>
              <a:t>: Optimize lightweight apps, Simplify UI for low-bandwidth users.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Estimated Impact</a:t>
            </a:r>
            <a:r>
              <a:rPr lang="en-IN" dirty="0"/>
              <a:t>: If adoption improves by 10% in this segment could add ~5-10k transactions. And could increase revenue by Rs. 42 * 5000 = ~2.1 Lakh.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6D568-708E-BEEA-C8A2-A745773A1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347" y="3265670"/>
            <a:ext cx="2766733" cy="281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37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E2AD6-C084-532C-0CAB-33541F3EA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2D12C4-0EC9-2B27-F993-AD2534F748DB}"/>
              </a:ext>
            </a:extLst>
          </p:cNvPr>
          <p:cNvSpPr/>
          <p:nvPr/>
        </p:nvSpPr>
        <p:spPr>
          <a:xfrm>
            <a:off x="593889" y="254524"/>
            <a:ext cx="11170763" cy="76357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EBFE33-4DCA-1E34-9B41-233CF1E23900}"/>
              </a:ext>
            </a:extLst>
          </p:cNvPr>
          <p:cNvSpPr txBox="1"/>
          <p:nvPr/>
        </p:nvSpPr>
        <p:spPr>
          <a:xfrm>
            <a:off x="857838" y="433633"/>
            <a:ext cx="7852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Insight #4 : Merchant Categories driving volume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397C62-9E5B-1584-7DB6-424EBEA7D1E9}"/>
              </a:ext>
            </a:extLst>
          </p:cNvPr>
          <p:cNvSpPr/>
          <p:nvPr/>
        </p:nvSpPr>
        <p:spPr>
          <a:xfrm>
            <a:off x="669303" y="1206631"/>
            <a:ext cx="7569724" cy="37801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50639-85FD-6322-4DBC-437357F90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367" y="3096705"/>
            <a:ext cx="2834679" cy="27391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8FCF48-1019-651C-1AD1-569933118AB6}"/>
              </a:ext>
            </a:extLst>
          </p:cNvPr>
          <p:cNvSpPr txBox="1"/>
          <p:nvPr/>
        </p:nvSpPr>
        <p:spPr>
          <a:xfrm>
            <a:off x="857838" y="1395167"/>
            <a:ext cx="71926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Top Categories that include Apparel, Electronics, Online.</a:t>
            </a:r>
          </a:p>
          <a:p>
            <a:r>
              <a:rPr lang="en-IN" dirty="0"/>
              <a:t>      Spending concentrated in few high value categories.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Recommendation</a:t>
            </a:r>
            <a:r>
              <a:rPr lang="en-IN" dirty="0"/>
              <a:t>: Partner with these merchants, offer cashback/ targeted promotions.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Estimated Impact</a:t>
            </a:r>
            <a:r>
              <a:rPr lang="en-IN" dirty="0"/>
              <a:t>: Even ~5% significant increase in these categories can significant volume boost.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533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770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Saurav raj</dc:creator>
  <cp:lastModifiedBy>Saurav raj</cp:lastModifiedBy>
  <cp:revision>7</cp:revision>
  <dcterms:created xsi:type="dcterms:W3CDTF">2026-04-24T18:40:54Z</dcterms:created>
  <dcterms:modified xsi:type="dcterms:W3CDTF">2026-04-27T16:59:42Z</dcterms:modified>
</cp:coreProperties>
</file>